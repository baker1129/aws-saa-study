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45720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57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AWS SAA 学習資料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S3 / S3 Glacier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EF08A"/>
                </a:solidFill>
              </a:rPr>
              <a:t>Amazon S3 ＋ Amazon S3 Glacier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3886200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146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EF08A"/>
                </a:solidFill>
              </a:rPr>
              <a:t>S3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画像・動画・ログ・バックアップなどの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「ファイルっぽいデータ」をほぼ無限に安全に置く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514600"/>
            <a:ext cx="3886200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5146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EF08A"/>
                </a:solidFill>
              </a:rPr>
              <a:t>S3 Glacier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28346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「ほとんど見ないけど長期間保存しなければいけないデータ」を安く保管する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768096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5760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F08A"/>
                </a:solidFill>
              </a:rPr>
              <a:t>AWS公式：S3はオブジェクトストレージサービス。データレイク、Webサイト、バックアップ、アーカイブ、IoT、ビッグデータ分析など幅広い用途に使える。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07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</a:rPr>
              <a:t>AWS公式：S3 Glacierストレージクラスは、頻繁にアクセスされない長期データを低コストで保存するためのもの。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① なぜ S3 は存在するか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昔のストレージ管理の苦労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389888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画像保存用サーバーを買う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ディスク容量を監視する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容量が足りなくなったらディスクを追加する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ディスクが壊れたら交換する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バックアップを別の場所にコピーする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大量アクセスに耐えるように構成する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291840"/>
            <a:ext cx="4023360" cy="3840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291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保存したいデータはどんどん増える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0040" y="3730752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</a:rPr>
              <a:t>ユーザーがアップロードした画像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</a:rPr>
              <a:t>アプリのログ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</a:rPr>
              <a:t>動画ファイル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</a:rPr>
              <a:t>バックアップファイル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</a:rPr>
              <a:t>請求書PDF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</a:rPr>
              <a:t>機械学習用データ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</a:rPr>
              <a:t>データ分析用の生データ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914400"/>
            <a:ext cx="36576" cy="3886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914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S3 の答え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420624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417320"/>
            <a:ext cx="137160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463040"/>
            <a:ext cx="3886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3A5F"/>
                </a:solidFill>
              </a:rPr>
              <a:t>「サーバーのディスク管理を気にせず、ファイルっぽいデータを安全に大量保存する」ために存在する。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9718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幼児向けに言うと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273552"/>
            <a:ext cx="40233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3A5F"/>
                </a:solidFill>
              </a:rPr>
              <a:t>S3は、AWSにある巨大なおもちゃ箱。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3A5F"/>
                </a:solidFill>
              </a:rPr>
              <a:t>どんどん入る／壊れにくい／世界中から取り出せる／あまり使わないものは安い奥の倉庫（S3 Glacier）に移せる。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S3 の基本部品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26187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1371600" cy="12618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371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バケット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1014984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データを入れる大きな箱。まずバケットを作って、その中にデータを入れる。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783080" y="1709928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D4ED8"/>
                </a:solidFill>
              </a:rPr>
              <a:t>例：画像用バケット / ログ用バケット / バックアップ用バケット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8595360" cy="1261872"/>
          </a:xfrm>
          <a:prstGeom prst="rect">
            <a:avLst/>
          </a:prstGeom>
          <a:solidFill>
            <a:srgbClr val="E0F7F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331720"/>
            <a:ext cx="1371600" cy="1261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31720"/>
            <a:ext cx="1371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オブジェクト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83080" y="2386584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S3に保存する1つ1つのデータ。画像1枚、PDF1個、ログファイル1個がオブジェクト。S3は「ファイルシステム」ではなく、オブジェクトストレージ。AWSのストレージは大きく、オブジェクト、ブロック、ファイルに分かれ、S3はオブジェクトストレージです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703320"/>
            <a:ext cx="8595360" cy="1261872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03320"/>
            <a:ext cx="1371600" cy="1261872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703320"/>
            <a:ext cx="1371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キー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83080" y="3758184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</a:rPr>
              <a:t>オブジェクトの名前・住所。フォルダっぽく見えるが、S3では厳密にはキー名で管理している。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783080" y="4453128"/>
            <a:ext cx="6949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E22CE"/>
                </a:solidFill>
              </a:rPr>
              <a:t>images/user123/profile.png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E22CE"/>
                </a:solidFill>
              </a:rPr>
              <a:t>logs/2026/05/04/app.log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E22CE"/>
                </a:solidFill>
              </a:rPr>
              <a:t>backup/db-2026-05-04.sql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② 似たサービスとの違い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S3 vs EBS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4160520" cy="103327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07008"/>
            <a:ext cx="416052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070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オブジェクトストレージ（巨大な倉庫）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KW：オブジェクト / 画像 / 動画 / ログ / バックアップ / アーカイブ / データレイク / 静的Webサイト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207008"/>
            <a:ext cx="4160520" cy="1033272"/>
          </a:xfrm>
          <a:prstGeom prst="rect">
            <a:avLst/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207008"/>
            <a:ext cx="4160520" cy="3474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070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EBS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EC2にくっつけるブロックストレージ（EC2専用のハードディスク）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KW：EC2にアタッチ / ブロックストレージ / OSディスク / 低レイテンシのディスク / 単一EC2の永続ディスク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2286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S3 vs EFS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578608"/>
            <a:ext cx="4160520" cy="103327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78608"/>
            <a:ext cx="416052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786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971800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オブジェクト単位で保存（荷物を箱ごと倉庫に預ける）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KW：オブジェクト保存 / バケット / APIで保存 / 静的コンテンツ / データレイク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578608"/>
            <a:ext cx="4160520" cy="1033272"/>
          </a:xfrm>
          <a:prstGeom prst="rect">
            <a:avLst/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578608"/>
            <a:ext cx="4160520" cy="34747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EFS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2971800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複数EC2から同時にマウントできるファイルシステム（みんなで使う共有フォルダ）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KW：複数EC2で共有 / NFS / POSIX / 共有ファイルシステム / Linuxからマウント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3657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S3 vs RDS / DynamoDB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950208"/>
            <a:ext cx="4160520" cy="1033272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50208"/>
            <a:ext cx="416052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9502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343400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ファイル・オブジェクトを保存する（例：商品画像 / プロフィール画像そのもの）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950208"/>
            <a:ext cx="4160520" cy="1033272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3950208"/>
            <a:ext cx="4160520" cy="347472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9502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RDS / DynamoDB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4343400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RDS：表形式データをSQLで管理（注文情報・ユーザー情報）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DynamoDB：キーで高速検索するNoSQL（ユーザーIDと画像URLの対応表）</a:t>
            </a:r>
            <a:endParaRPr lang="en-US" sz="10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</a:rPr>
              <a:t>「画像本体はS3、メタデータはDynamoDB」と分けて考える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S3 ストレージクラスの考え方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457200"/>
          </a:xfrm>
          <a:prstGeom prst="roundRect">
            <a:avLst>
              <a:gd name="adj" fmla="val 14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EF08A"/>
                </a:solidFill>
              </a:rPr>
              <a:t>S3は同じS3でも「置き場所の料金プラン」が複数ある。アクセス頻度と取り出し速度で選ぶ。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8595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81328"/>
            <a:ext cx="1920240" cy="777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8132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S3 Standard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86000" y="1517904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</a:rPr>
              <a:t>KW: 「頻繁にアクセス」「低レイテンシ」「通常利用」「Webコンテンツ」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1892808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よく表示される画像 / 現役アプリのファイル / 頻繁に読むログ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8595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359152"/>
            <a:ext cx="192024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59152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S3 Standard-IA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86000" y="2395728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KW: 「低頻度アクセス」「すぐ取り出す」「バックアップ」「長期保存だが即時アクセス」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86000" y="2770632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バックアップ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236976"/>
            <a:ext cx="8595360" cy="777240"/>
          </a:xfrm>
          <a:prstGeom prst="rect">
            <a:avLst/>
          </a:prstGeom>
          <a:solidFill>
            <a:srgbClr val="E0F7F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236976"/>
            <a:ext cx="192024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23697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S3 One Zone-IA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86000" y="3273552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</a:rPr>
              <a:t>KW: 「再作成可能」「低コスト」「1つのAZでよい」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86000" y="3648456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再作成できるデータ向け。AZ障害に弱い。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114800"/>
            <a:ext cx="8595360" cy="77724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114800"/>
            <a:ext cx="1920240" cy="77724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14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S3 Intelligent-Tiering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286000" y="4151376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22CE"/>
                </a:solidFill>
              </a:rPr>
              <a:t>KW: 「アクセスパターンが不明」「アクセス頻度が変化する」「自動でコスト最適化」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86000" y="4526280"/>
            <a:ext cx="6492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アクセス状況に応じて自動で階層を変えてくれる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S3 Glacier の種類 — 取り出し時間が重要！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02920"/>
          </a:xfrm>
          <a:prstGeom prst="roundRect">
            <a:avLst>
              <a:gd name="adj" fmla="val 12727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766E"/>
                </a:solidFill>
              </a:rPr>
              <a:t>S3 Glacierとは：「普段はほぼ見ないけど、消してはいけないデータ」を安く眠らせる場所。法律上7年保存が必要なログ / 監査用データ / 古いバックアップ / 医療記録 / 長期保存のアーカイブなど。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8595360" cy="1078992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36192"/>
            <a:ext cx="1828800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727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Glacier Instant Retrieval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084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取得：ミリ秒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23408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頻度：四半期に1回程度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58191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めったに見ないが、必要なときはミリ秒で取り出したい。AWS公式：四半期に1回程度アクセスされ、ミリ秒単位の取得が必要な長期データ向け。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1945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KW: 「アーカイブだが即時アクセス」「ミリ秒で取得」「四半期に1回程度」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706624"/>
            <a:ext cx="8595360" cy="1078992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06624"/>
            <a:ext cx="1828800" cy="10789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Glacier Flexible Retrieval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255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取得：数分〜12時間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35112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頻度：半期に1回程度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2752344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数分〜数時間待てるアーカイブ用。以前の S3 Glacier に近いイメージ。AWS公式：半期に1回程度アクセスするデータ向けで、平均取得時間は数分から12時間。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336499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</a:rPr>
              <a:t>KW: 「アーカイブ」「数分〜数時間で取り出し」「たまに復元」「コストを下げたい」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877056"/>
            <a:ext cx="8595360" cy="1078992"/>
          </a:xfrm>
          <a:prstGeom prst="rect">
            <a:avLst/>
          </a:prstGeom>
          <a:solidFill>
            <a:srgbClr val="FFF1F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877056"/>
            <a:ext cx="1828800" cy="10789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9136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Glacier Deep Archive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4256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取得：9〜48時間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46817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頻度：年1回程度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94560" y="3922776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最安クラス。だが取り出しに長く待つ。AWS公式：年1回程度アクセスするデータ向けで、平均取得時間は9〜48時間。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453542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KW: 「最長期保存」「年1回以下」「監査」「法規制」「最安」「12時間以上待てる」「9〜48時間」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5065776"/>
            <a:ext cx="8595360" cy="0"/>
          </a:xfrm>
          <a:prstGeom prst="round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ライフサイクルルール ＋ Glacier の注意点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ライフサイクルルール — 時間がたったデータを自動で安い保管場所へ移すルール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71600"/>
            <a:ext cx="1627632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7160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作成直後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755648"/>
            <a:ext cx="1627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S3 Standard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01952" y="1371600"/>
            <a:ext cx="91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993392" y="1371600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1371600"/>
            <a:ext cx="162763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37160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30日後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93392" y="1755648"/>
            <a:ext cx="1627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S3 Standard-IA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21024" y="1371600"/>
            <a:ext cx="91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712464" y="1371600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2464" y="1371600"/>
            <a:ext cx="1627632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137160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90日後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12464" y="1755648"/>
            <a:ext cx="1627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Glacier Flexible Retrieval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40096" y="1371600"/>
            <a:ext cx="91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31536" y="1371600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31536" y="1371600"/>
            <a:ext cx="1627632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1536" y="137160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365日後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31536" y="1755648"/>
            <a:ext cx="1627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Glacier Deep Archive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59168" y="1371600"/>
            <a:ext cx="91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150608" y="1371600"/>
            <a:ext cx="16276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50608" y="1371600"/>
            <a:ext cx="1627632" cy="3474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0608" y="137160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7年後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50608" y="1755648"/>
            <a:ext cx="16276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削除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880360"/>
            <a:ext cx="8595360" cy="502920"/>
          </a:xfrm>
          <a:prstGeom prst="roundRect">
            <a:avLst>
              <a:gd name="adj" fmla="val 12727"/>
            </a:avLst>
          </a:prstGeom>
          <a:solidFill>
            <a:srgbClr val="FEF9C3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8803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SAAでは「一定期間後に安いストレージへ移動」と出たら S3 Lifecycle を疑う。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3520440"/>
            <a:ext cx="8595360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520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Glacier Flexible Retrieval / Deep Archive はすぐ読めない！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3913632"/>
            <a:ext cx="8595360" cy="914400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931920"/>
            <a:ext cx="8366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91C1C"/>
                </a:solidFill>
              </a:rPr>
              <a:t>先に復元リクエストを出して、一時コピーを作ってからアクセスする必要がある。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91C1C"/>
                </a:solidFill>
              </a:rPr>
              <a:t>「すぐ取り出したい」なら Glacier Flexible Retrieval / Deep Archive は危ない。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91C1C"/>
                </a:solidFill>
              </a:rPr>
              <a:t>すぐ取り出したいなら → S3 Standard / S3 Standard-IA / S3 Glacier Instant Retrieval を考える。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 問題文にどんな言葉があれば S3 / Glacier を選ぶか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97480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S3を選ぶキーワード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2697480" cy="30175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53312"/>
            <a:ext cx="137160" cy="3017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5331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オブジェクトストレージ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700784"/>
            <a:ext cx="2697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00784"/>
            <a:ext cx="137160" cy="3017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00784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画像、動画、PDF、ログ、バックアップ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48256"/>
            <a:ext cx="2697480" cy="30175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48256"/>
            <a:ext cx="137160" cy="3017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048256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静的Webサイトホスティング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395728"/>
            <a:ext cx="2697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395728"/>
            <a:ext cx="137160" cy="3017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395728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データレイク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2697480" cy="30175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743200"/>
            <a:ext cx="137160" cy="3017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43200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大量データを安価に保存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090672"/>
            <a:ext cx="2697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090672"/>
            <a:ext cx="137160" cy="3017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09067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耐久性の高いストレージ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438144"/>
            <a:ext cx="2697480" cy="30175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438144"/>
            <a:ext cx="137160" cy="3017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438144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バケット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785616"/>
            <a:ext cx="2697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785616"/>
            <a:ext cx="137160" cy="3017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785616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オブジェクト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54680" y="914400"/>
            <a:ext cx="269748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914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S3 Glacierを選ぶキーワード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154680" y="1353312"/>
            <a:ext cx="2697480" cy="301752"/>
          </a:xfrm>
          <a:prstGeom prst="rect">
            <a:avLst/>
          </a:prstGeom>
          <a:solidFill>
            <a:srgbClr val="CCFBF1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54680" y="1353312"/>
            <a:ext cx="137160" cy="3017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55848" y="135331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アーカイブ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154680" y="1700784"/>
            <a:ext cx="2697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54680" y="1700784"/>
            <a:ext cx="137160" cy="3017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55848" y="1700784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長期保存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154680" y="2048256"/>
            <a:ext cx="2697480" cy="301752"/>
          </a:xfrm>
          <a:prstGeom prst="rect">
            <a:avLst/>
          </a:prstGeom>
          <a:solidFill>
            <a:srgbClr val="CCFBF1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54680" y="2048256"/>
            <a:ext cx="137160" cy="3017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55848" y="2048256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ほとんどアクセスしない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154680" y="2395728"/>
            <a:ext cx="2697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54680" y="2395728"/>
            <a:ext cx="137160" cy="3017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55848" y="2395728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監査・コンプライアンス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154680" y="2743200"/>
            <a:ext cx="2697480" cy="301752"/>
          </a:xfrm>
          <a:prstGeom prst="rect">
            <a:avLst/>
          </a:prstGeom>
          <a:solidFill>
            <a:srgbClr val="CCFBF1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154680" y="2743200"/>
            <a:ext cx="137160" cy="3017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55848" y="2743200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法規制で保存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154680" y="3090672"/>
            <a:ext cx="26974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54680" y="3090672"/>
            <a:ext cx="137160" cy="3017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55848" y="309067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最安で保管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154680" y="3438144"/>
            <a:ext cx="2697480" cy="301752"/>
          </a:xfrm>
          <a:prstGeom prst="rect">
            <a:avLst/>
          </a:prstGeom>
          <a:solidFill>
            <a:srgbClr val="CCFBF1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54680" y="3438144"/>
            <a:ext cx="137160" cy="3017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55848" y="3438144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取り出しに数時間かかってもよい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035040" y="914400"/>
            <a:ext cx="2834640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35040" y="914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S3 Lifecycleを選ぶキーワード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035040" y="1353312"/>
            <a:ext cx="2834640" cy="30175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35040" y="1353312"/>
            <a:ext cx="137160" cy="3017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36208" y="1353312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</a:rPr>
              <a:t>30日後に移動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035040" y="1700784"/>
            <a:ext cx="2834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35040" y="1700784"/>
            <a:ext cx="137160" cy="3017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36208" y="1700784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</a:rPr>
              <a:t>一定期間後にアーカイブ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035040" y="2048256"/>
            <a:ext cx="2834640" cy="30175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35040" y="2048256"/>
            <a:ext cx="137160" cy="3017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36208" y="2048256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</a:rPr>
              <a:t>古いログを自動で安いストレージへ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035040" y="2395728"/>
            <a:ext cx="283464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035040" y="2395728"/>
            <a:ext cx="137160" cy="3017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36208" y="2395728"/>
            <a:ext cx="25786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</a:rPr>
              <a:t>保存期間が過ぎたら削除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74320" y="4206240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1E3A5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4320" y="420624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EF08A"/>
                </a:solidFill>
              </a:rPr>
              <a:t>Standard＝よく使う　Standard-IA / Glacier Instant＝あまり使わないがすぐ必要　Flexible Retrieval＝数時間待てる　Deep Archive＝年単位で眠らせる最安　Lifecycle＝時間経過で自動移動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SAAでよく出る判断パターン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38912" cy="7498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93268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パターン1：画像や動画を保存したい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2344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3A5F"/>
                </a:solidFill>
              </a:rPr>
              <a:t>Q: ユーザーがアップロードする画像や動画を大量に保存したい。高い耐久性とスケーラビリティが必要。　→　A: Amazon S3。画像・動画・ファイル保存はS3の王道。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37360"/>
            <a:ext cx="438912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3736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17556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パターン2：Webサイトの静的ファイルを配信したい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205740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3A5F"/>
                </a:solidFill>
              </a:rPr>
              <a:t>Q: HTML、CSS、JavaScript、画像だけで構成される静的Webサイトを低コストでホストしたい。　→　A: S3 静的Webサイトホスティング。さらに高速化・HTTPS・グローバル配信なら CloudFront + S3。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6032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60320"/>
            <a:ext cx="438912" cy="7498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6032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25786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パターン3：古いログを安く長期保存したい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288036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3A5F"/>
                </a:solidFill>
              </a:rPr>
              <a:t>Q: アプリケーションログを7年間保存する必要がある。ほとんどアクセスされない。コストを最小化したい。　→　A: S3 Glacier Deep Archive。または時間経過で移すなら S3 Lifecycle。長期・ほぼアクセスなし・最安ならDeep Archive。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83280"/>
            <a:ext cx="438912" cy="749808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8328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340156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E22CE"/>
                </a:solidFill>
              </a:rPr>
              <a:t>パターン4：アクセス頻度が読めない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370332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3A5F"/>
                </a:solidFill>
              </a:rPr>
              <a:t>Q: オブジェクトのアクセス頻度が予測できない。コストを自動最適化したい。　→　A: S3 Intelligent-Tiering。アクセスパターンが不明・変動するなら自動階層化。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8595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06240"/>
            <a:ext cx="438912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06240"/>
            <a:ext cx="438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4672" y="42245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パターン5：アーカイブだが即時アクセスが必要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" y="452628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3A5F"/>
                </a:solidFill>
              </a:rPr>
              <a:t>Q: 長期保存データだが、必要なときはミリ秒単位で取得する必要がある。　→　A: S3 Glacier Instant Retrieval。Glacier系だが即時取得できる。Flexible Retrieval / Deep Archiveではない。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⚠️ 試験での危険な選択肢 — これを選んだら負け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896112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548640" cy="89611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7840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</a:rPr>
              <a:t>EC2のEBSに画像を大量保存する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42646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5803D"/>
                </a:solidFill>
              </a:rPr>
              <a:t>→ 危ない。EC2に依存するし、スケールしにくい。画像・動画・ログ・バックアップは基本S3。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56816"/>
            <a:ext cx="8595360" cy="896112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56816"/>
            <a:ext cx="548640" cy="89611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56816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0025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</a:rPr>
              <a:t>複数EC2で同じファイルを共有したいのにS3を通常ファイルシステム扱いする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45059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5803D"/>
                </a:solidFill>
              </a:rPr>
              <a:t>→ 危ない。Linuxから共有ファイルシステムとしてマウントしたいならEFS。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80944"/>
            <a:ext cx="8595360" cy="896112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80944"/>
            <a:ext cx="548640" cy="89611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80944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02666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</a:rPr>
              <a:t>すぐ必要なデータをDeep Archiveに入れる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5803D"/>
                </a:solidFill>
              </a:rPr>
              <a:t>→ 危ない。Deep Archiveは取り出しに時間がかかる。AWS公式でもDeep Archiveの取得は9〜48時間の目安。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05072"/>
            <a:ext cx="8595360" cy="896112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4005072"/>
            <a:ext cx="548640" cy="89611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05072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050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</a:rPr>
              <a:t>DBの代わりにS3を選ぶ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449884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5803D"/>
                </a:solidFill>
              </a:rPr>
              <a:t>→ 危ない。SQL/JOIN/トランザクションが必要ならRDS/Aurora。キーで高速検索するならDynamoDB。S3はファイル・オブジェクトの保存場所。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最後に — この形で言えるようにする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07592"/>
            <a:ext cx="164592" cy="43891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0759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S3 は、画像・動画・ログ・バックアップなどのオブジェクトデータを、大量に安全に保存するために存在する。EBSと似ているが、S3はオブジェクトをバケットに保存するサービスで、EBSはEC2に接続するブロックストレージという点で異なる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746504"/>
            <a:ext cx="164592" cy="347472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4650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08A"/>
                </a:solidFill>
              </a:rPr>
              <a:t>試験KW：「オブジェクトストレージ」「バケット」「画像」「動画」「ログ」「バックアップ」「静的Webサイト」「データレイク」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8595360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1284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S3 Glacier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164592" cy="4572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603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S3 Glacier は、ほとんどアクセスしない長期保存データを、低コストでアーカイブするために存在する。S3 Standardと似ているが、Glacierは取り出し頻度が低い代わりに保管コストを下げる点で異なる。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164592" cy="347472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175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F08A"/>
                </a:solidFill>
              </a:rPr>
              <a:t>試験KW：「アーカイブ」「長期保存」「監査」「法規制」「ほとんどアクセスしない」「取り出しに時間がかかってよい」「最安」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EF08A"/>
                </a:solidFill>
              </a:rPr>
              <a:t>よく使うファイル</a:t>
            </a:r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EF08A"/>
                </a:solidFill>
              </a:rPr>
              <a:t> = S3 Standard　</a:t>
            </a:r>
            <a:pPr algn="ctr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EF08A"/>
                </a:solidFill>
              </a:rPr>
              <a:t>あまり使わないがすぐ必要</a:t>
            </a:r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EF08A"/>
                </a:solidFill>
              </a:rPr>
              <a:t> = Standard-IA / Glacier Instant Retrieval
</a:t>
            </a:r>
            <a:pPr algn="ctr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EF08A"/>
                </a:solidFill>
              </a:rPr>
              <a:t>数時間待てるアーカイブ</a:t>
            </a:r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EF08A"/>
                </a:solidFill>
              </a:rPr>
              <a:t> = Glacier Flexible Retrieval　</a:t>
            </a:r>
            <a:pPr algn="ctr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EF08A"/>
                </a:solidFill>
              </a:rPr>
              <a:t>年単位で眠らせる最安アーカイブ</a:t>
            </a:r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EF08A"/>
                </a:solidFill>
              </a:rPr>
              <a:t> = Glacier Deep Archive
</a:t>
            </a:r>
            <a:pPr algn="ctr"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EF08A"/>
                </a:solidFill>
              </a:rPr>
              <a:t>時間が経ったら自動で移す</a:t>
            </a:r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EF08A"/>
                </a:solidFill>
              </a:rPr>
              <a:t> = S3 Lifecycle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S3 / S3 Glacier 学習資料</dc:title>
  <dc:subject>PptxGenJS Presentation</dc:subject>
  <dc:creator>PptxGenJS</dc:creator>
  <cp:lastModifiedBy>PptxGenJS</cp:lastModifiedBy>
  <cp:revision>1</cp:revision>
  <dcterms:created xsi:type="dcterms:W3CDTF">2026-05-05T01:38:27Z</dcterms:created>
  <dcterms:modified xsi:type="dcterms:W3CDTF">2026-05-05T01:38:27Z</dcterms:modified>
</cp:coreProperties>
</file>