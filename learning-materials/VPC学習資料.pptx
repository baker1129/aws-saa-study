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16F7C"/>
          </a:solidFill>
          <a:ln w="12700">
            <a:solidFill>
              <a:srgbClr val="016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16F7C"/>
          </a:solidFill>
          <a:ln w="12700">
            <a:solidFill>
              <a:srgbClr val="016F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11F25"/>
          </a:solidFill>
          <a:ln w="12700">
            <a:solidFill>
              <a:srgbClr val="011F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4572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57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VPC とは何か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Virtual Private Cloud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6400800" cy="1051560"/>
          </a:xfrm>
          <a:prstGeom prst="rect">
            <a:avLst/>
          </a:prstGeom>
          <a:solidFill>
            <a:srgbClr val="016F7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4320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AWS上に「自分専用のネットワーク空間」を作るために存在する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</a:rPr>
              <a:t>AWS公式：VPCはAWSアカウント専用の仮想ネットワークで、他の仮想ネットワークから論理的に分離されているもの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なぜ VPC は存在するか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昔のネットワーク設計（物理）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3977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Webサーバーは外からアクセスできる場所に置く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DBサーバーは外から直接アクセスできない場所に置く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社内システムだけがDBに入れるようにする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IPアドレス範囲を決める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ルーターやファイアウォールで通信経路を決める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7033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703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3800"/>
                </a:solidFill>
              </a:rPr>
              <a:t>→ 物理機器を自分たちで買って作っていた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36576" cy="3474720"/>
          </a:xfrm>
          <a:prstGeom prst="rect">
            <a:avLst/>
          </a:prstGeom>
          <a:solidFill>
            <a:srgbClr val="E8F8F7"/>
          </a:solidFill>
          <a:ln w="12700">
            <a:solidFill>
              <a:srgbClr val="E8F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VPCが解決すること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447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DBがインターネットに丸見えだったら最悪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Webサーバーは外から見えていい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DBは外から見えてはいけない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50876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13716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88036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05A"/>
                </a:solidFill>
              </a:rPr>
              <a:t>AWSの中に、自分専用の安全なネットワークの箱を作る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幼児向けに言うと — マンションのたとえ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AWS全体 ＝ 巨大なマンション　／　VPC ＝ その中にある自分の部屋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6596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05A"/>
                </a:solidFill>
              </a:rPr>
              <a:t>他人の部屋とは分かれている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他のAWSアカウントのVPCとは論理的に分離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6596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32120" y="19659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05A"/>
                </a:solidFill>
              </a:rPr>
              <a:t>部屋の中をどう仕切るかは自分で決める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2468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サブネット分割は自由に設計できる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8328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05A"/>
                </a:solidFill>
              </a:rPr>
              <a:t>玄関を作るかどうかも自分で決める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Internet Gatewayの有無を選べる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38328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3212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05A"/>
                </a:solidFill>
              </a:rPr>
              <a:t>金庫部屋を奥に隠すこともできる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32120" y="3886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DBをプライベートサブネットに配置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663440"/>
            <a:ext cx="7315200" cy="347472"/>
          </a:xfrm>
          <a:prstGeom prst="roundRect">
            <a:avLst>
              <a:gd name="adj" fmla="val 15789"/>
            </a:avLst>
          </a:prstGeom>
          <a:solidFill>
            <a:srgbClr val="E0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505A"/>
                </a:solidFill>
              </a:rPr>
              <a:t>この「部屋の中の間取り」が、サブネットやルートテーブル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VPCの中に出てくる部品（1/2）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34440"/>
          </a:xfrm>
          <a:prstGeom prst="rect">
            <a:avLst/>
          </a:prstGeom>
          <a:solidFill>
            <a:srgbClr val="F0FF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4630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VPC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987552"/>
            <a:ext cx="6903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自分専用のネットワーク全体。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74520" y="1600200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28090"/>
                </a:solidFill>
              </a:rPr>
              <a:t>例：10.0.0.0/16 という住所エリアを作る。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146304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サブネット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359152"/>
            <a:ext cx="6903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VPCの中をさらに分けた小部屋。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AWS公式：サブネットはVPC内のIPアドレス範囲で、1つのアベイラビリティーゾーン内に置かれる。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74520" y="2971800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65C0"/>
                </a:solidFill>
              </a:rPr>
              <a:t>パブリックサブネット：インターネットから来てもよい場所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65C0"/>
                </a:solidFill>
              </a:rPr>
              <a:t>プライベートサブネット：インターネットから直接来てはいけない場所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146304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Internet 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3730752"/>
            <a:ext cx="6903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VPCとインターネットをつなぐ玄関。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これがないと、VPCはインターネットと直接通信できない。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74520" y="4343400"/>
            <a:ext cx="6903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E7D32"/>
                </a:solidFill>
              </a:rPr>
              <a:t>※ルートテーブルで「インターネット行きはInternet Gatewayへ」と設定する必要がある。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VPCの中に出てくる部品（2/2）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554480" cy="18745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Gateway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987552"/>
            <a:ext cx="6812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プライベートサブネットから外に出るための出口。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例：プライベートサブネット内のEC2がOSアップデートをしたい。でも、インターネットから直接入ってこられるのは嫌。そのときにNAT Gatewayを使う。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6812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6A1B9A"/>
                </a:solidFill>
              </a:rPr>
              <a:t>内側から外へ出る：OK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6A1B9A"/>
                </a:solidFill>
              </a:rPr>
              <a:t>外側から内へ直接入る：NG　＝ 出口専用ドア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1554480" cy="1920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260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505A"/>
                </a:solidFill>
              </a:rPr>
              <a:t>ルート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1505A"/>
                </a:solidFill>
              </a:rPr>
              <a:t>テーブル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999232"/>
            <a:ext cx="6812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通信の行き先表。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364992"/>
            <a:ext cx="6812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VPC内の通信はローカルへ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インターネット宛てはInternet Gatewayへ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外向き通信はNAT Gatewayへ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</a:rPr>
              <a:t>別VPC宛てはVPC PeeringやTransit Gatewayへ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似たサービスとの違い（1/2）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05A"/>
                </a:solidFill>
              </a:rPr>
              <a:t>VPC vs サブネット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527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52728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VPC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ネットワーク全体の箱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527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52728"/>
            <a:ext cx="41605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527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サブネット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184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その箱の中の部屋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例：リビング、寝室、金庫部屋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SAAでは「パブリック/プライベートサブネット」設計がよく問われる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05A"/>
                </a:solidFill>
              </a:rPr>
              <a:t>VPC vs Security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6243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24328"/>
            <a:ext cx="41605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243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VPC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900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ネットワークの場所・構造を作る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例：家そのもの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6243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624328"/>
            <a:ext cx="416052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6243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Group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9900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EC2やRDSなど個別リソースの通信を許可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例：各部屋のドアの鍵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AWS公式：Security GroupはEC2など関連リソースの通信を制御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05A"/>
                </a:solidFill>
              </a:rPr>
              <a:t>VPC vs Network ACL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9959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95928"/>
            <a:ext cx="416052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959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Group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361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リソース単位の防御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例：部屋ごとの鍵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まずSecurity Groupを考える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995928"/>
            <a:ext cx="4160520" cy="987552"/>
          </a:xfrm>
          <a:prstGeom prst="rect">
            <a:avLst/>
          </a:prstGeom>
          <a:solidFill>
            <a:srgbClr val="F0FFF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995928"/>
            <a:ext cx="416052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9959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 ACL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3616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サブネット単位の防御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例：建物の入口ゲート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サブネット全体で明示的に拒否したい追加の防御層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似たサービスとの違い（2/2）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91440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VPC vs Direct Connect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28090"/>
                </a:solidFill>
              </a:rPr>
              <a:t>VPC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　AWS内の自分専用ネットワーク。例：AWS内の自分の家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7D32"/>
                </a:solidFill>
              </a:rPr>
              <a:t>Direct Connect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　オンプレミスとAWSを専用線でつなぐサービス。例：会社からAWSの家までの専用道路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キーワード：「オンプレミス」「専用線」「安定した帯域」「VPNより安定」→ Direct Connect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926080"/>
            <a:ext cx="914400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VPC vs Transit Gateway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8090"/>
                </a:solidFill>
              </a:rPr>
              <a:t>VPC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1つのネットワークの箱。VPC Peering：家と家を1本ずつ直接つなぐ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6A1B9A"/>
                </a:solidFill>
              </a:rPr>
              <a:t>Transit Gateway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複数のVPCやオンプレミスをまとめてつなぐハブ。大きな駅を作って、全部そこにつなぐ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1B9A"/>
                </a:solidFill>
              </a:rPr>
              <a:t>キーワード：「多数のVPC」「ハブアンドスポーク」「ネットワーク接続を一元管理」→ Transit Gateway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VPCを選ぶキーワード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50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仮想ネットワーク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これはそのままVPC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32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3268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95097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論理的に分離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5192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他のネットワークと分けたいならVPC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5564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7739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サブネット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1214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VPC内の小部屋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7556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75564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7739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パブリック/プライベートサブネット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5192" y="21214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SAA頻出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7860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968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ルートテーブル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29443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通信経路を決める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5786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57860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59689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Internet Gateway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29443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インターネットと接続する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0156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4198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NAT Gateway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7673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プライベートサブネットから外向き通信だけしたい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401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40156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4198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CIDR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37673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VPCやサブネットのIPアドレス範囲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2452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2428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EC2をインターネットから直接アクセスできない場所に置く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45902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プライベートサブネット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224528"/>
            <a:ext cx="16459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2428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05A"/>
                </a:solidFill>
              </a:rPr>
              <a:t>DBを外部公開したくない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65192" y="45902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RDSをプライベートサブネットに置く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505A"/>
          </a:solidFill>
          <a:ln w="12700">
            <a:solidFill>
              <a:srgbClr val="0150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SAAでよく出る判断パターン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F0FF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5720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パターン1：WebサーバーとDBを分ける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Q: インターネットからWebアプリにアクセスさせたい。DBはインターネットから直接アクセスできないようにしたい。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E35"/>
                </a:solidFill>
              </a:rPr>
              <a:t>A: Webサーバー → パブリックサブネット　／　DB → プライベートサブネット　／　WebサーバーからDBへはSecurity Groupで許可　＝ VPC設計の基本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F0FFF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86000"/>
            <a:ext cx="457200" cy="1261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8600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</a:rPr>
              <a:t>パターン2：プライベートサブネットのEC2がインターネットへ出たい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6700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Q: プライベートサブネットのEC2がソフトウェアアップデートのためにインターネットへ接続する必要がある。ただし、インターネットから直接アクセスされたくない。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03580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E35"/>
                </a:solidFill>
              </a:rPr>
              <a:t>A: → NAT Gatewayを使う。（Internet Gatewayではない。Internet Gatewayは外から直接入れる可能性があるパブリック向けの玄関。NAT Gatewayは内側から外へ出るための出口。）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F0FFF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57600"/>
            <a:ext cx="457200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57600"/>
            <a:ext cx="457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パターン3：複数AZで高可用性にしたい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416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Q: アプリケーションを高可用性にしたい。単一AZ障害に耐えたい。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40740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E35"/>
                </a:solidFill>
              </a:rPr>
              <a:t>A: 複数AZにサブネットを作る / ALBを複数AZにまたがって配置 / EC2やRDSも複数AZ構成にする　※サブネットは1つのAZに属するため、複数AZ構成には複数AZにサブネットを作る必要がある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DBをパブリックサブネットに置く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4081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基本的に危ない。RDSなどのDBはプライベートサブネットに置くのが基本。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025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プライベートサブネットから外に出るためにInternet Gatewayを使う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4323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これは違う。プライベートサブネットから外向き通信をしたいなら NAT Gateway。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Security GroupとNetwork ACLを混同する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456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Security Groupはリソース単位。Network ACLはサブネット単位。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050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VPC Peeringを大量のVPC接続に使う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→ 少数ならVPC Peeringでもよい。多数のVPCを一元接続したいなら Transit Gateway。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16F7C"/>
          </a:solidFill>
          <a:ln w="12700">
            <a:solidFill>
              <a:srgbClr val="01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" cy="8961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321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VPC は、AWS上に自分専用の安全なネットワーク空間を作るために存在する。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164592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8321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Security Group と似ているが、VPCはネットワーク全体の箱を作るもので、Security GroupはEC2やRDSなど個別リソースの通信を許可する点で異なる。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164592" cy="896112"/>
          </a:xfrm>
          <a:prstGeom prst="rect">
            <a:avLst/>
          </a:prstGeom>
          <a:solidFill>
            <a:srgbClr val="FFF176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8321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試験では「仮想ネットワーク」「論理的に分離」「サブネット」「ルートテーブル」「Internet Gateway」「NAT Gateway」「プライベートサブネット」という言葉が出たときに選ぶ。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7680960" cy="804672"/>
          </a:xfrm>
          <a:prstGeom prst="roundRect">
            <a:avLst>
              <a:gd name="adj" fmla="val 11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14800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特にSAAでは：Webはパブリックサブネット。DBはプライベートサブネット。プライベートから外へ出るならNAT Gateway。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VPC 学習資料</dc:title>
  <dc:subject>PptxGenJS Presentation</dc:subject>
  <dc:creator>PptxGenJS</dc:creator>
  <cp:lastModifiedBy>PptxGenJS</cp:lastModifiedBy>
  <cp:revision>1</cp:revision>
  <dcterms:created xsi:type="dcterms:W3CDTF">2026-05-04T13:57:20Z</dcterms:created>
  <dcterms:modified xsi:type="dcterms:W3CDTF">2026-05-04T13:57:20Z</dcterms:modified>
</cp:coreProperties>
</file>