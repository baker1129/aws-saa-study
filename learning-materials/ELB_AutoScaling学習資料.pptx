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2E81"/>
                </a:solidFill>
              </a:rPr>
              <a:t>AWS SAA 学習資料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ELB + Auto Scaling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F08A"/>
                </a:solidFill>
              </a:rPr>
              <a:t>Elastic Load Balancing ＋ EC2 Auto Scaling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8862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ELB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アクセスを複数のサーバーに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振り分けるために存在する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514600"/>
            <a:ext cx="3886200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514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Auto 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必要なサーバー台数を自動で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増やしたり減らしたりするために存在する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4338C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Webアプリの王道構成 = ALB + Auto Scaling Group + 複数AZのEC2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AWS公式：ELBは正常なターゲットだけにルーティング。Auto Scalingはピーク時にキャパシティを追加し需要が下がったら減らす。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① なぜ ELB + Auto Scaling は存在するか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1台構成の問題（単一障害点）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1台のサーバーにアクセス集中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サーバーが重くなる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最悪、落ちる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落ちたらサービス全体が止まる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578608"/>
            <a:ext cx="402336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578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人間が手動でやっていたこと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3054096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サーバーを手動で追加する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DNSを書き換える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障害サーバーを手動で切り離す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</a:rPr>
              <a:t>夜中でもアラートで起きて作業する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422452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2245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これではつらい。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914400"/>
            <a:ext cx="36576" cy="3886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ELB + Auto Scaling の答え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20624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137160" cy="1325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6304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565C0"/>
                </a:solidFill>
              </a:rPr>
              <a:t>ELB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565C0"/>
                </a:solidFill>
              </a:rPr>
              <a:t>「来たお客さんを空いている店員に振り分ける受付係」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206240" cy="1325880"/>
          </a:xfrm>
          <a:prstGeom prst="rect">
            <a:avLst/>
          </a:prstGeom>
          <a:solidFill>
            <a:srgbClr val="F5F3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34640"/>
            <a:ext cx="137160" cy="13258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8036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D28D9"/>
                </a:solidFill>
              </a:rPr>
              <a:t>Auto Scaling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D28D9"/>
                </a:solidFill>
              </a:rPr>
              <a:t>「混んできたら店員を増やし、暇になったら減らす店長」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422452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2245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レジが1台→大行列。ELBが空きレジへ案内。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Auto Scalingが新しいレジ係を呼ぶ。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ELB と Auto Scaling の違い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ELB — 今いるサーバーにアクセスを振り分ける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ELBの仕事は、交通整理。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リクエストを複数EC2に分散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正常なEC2だけに送る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複数AZにまたがって振り分ける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1台に集中しないようにする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3977640" cy="868680"/>
          </a:xfrm>
          <a:prstGeom prst="roundRect">
            <a:avLst>
              <a:gd name="adj" fmla="val 7368"/>
            </a:avLst>
          </a:prstGeom>
          <a:solidFill>
            <a:srgbClr val="DBEAF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546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</a:rPr>
              <a:t>ただし、ELBはサーバーの台数を増やさない。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14400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 Scaling — EC2の台数を増やしたり減らしたりする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Auto Scalingの仕事は、人数調整。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78308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CPU使用率が高いならEC2を増やす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夜間などアクセスが少ないならEC2を減らす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異常なEC2を置き換える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</a:rPr>
              <a:t>希望台数を維持する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3154680"/>
            <a:ext cx="3977640" cy="868680"/>
          </a:xfrm>
          <a:prstGeom prst="roundRect">
            <a:avLst>
              <a:gd name="adj" fmla="val 7368"/>
            </a:avLst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15468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8D9"/>
                </a:solidFill>
              </a:rPr>
              <a:t>ただし、Auto Scalingはアクセスの振り分け係ではない。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434340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F08A"/>
                </a:solidFill>
              </a:rPr>
              <a:t>ELB＝受付係（リクエストを分散）　Auto Scaling＝店長（EC2台数を調整）　EC2＝店員（実際に処理）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ELB の種類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10312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ALB：Application Load Balancer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68880" y="95097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HTTP/HTTPSのWebアプリ向け。SAAで一番よく出る。レイヤー7（アプリケーション層）で動く。URLパスやホスト名に応じたルーティングができる。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143560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565C0"/>
                </a:solidFill>
              </a:rPr>
              <a:t>KW: 「HTTP」「HTTPS」「Webアプリ」「URLパスベースルーティング」「ホストベースルーティング」「コンテナ」「ECS」　例：/images→画像サーバー、/api→APIサーバー、admin.example.com→管理画面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96012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65960"/>
            <a:ext cx="210312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NLB：Network Load Balancer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0" y="200253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TCP/UDPなどの高速・低レイテンシ通信向け。レイヤー4（トランスポート層）で動く。高性能で、固定IPが必要な場面でも使われる。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68880" y="24871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766E"/>
                </a:solidFill>
              </a:rPr>
              <a:t>KW: 「TCP」「UDP」「低レイテンシ」「高スループット」「固定IP」「Elastic IP」「極端に高い性能」　例：ゲームサーバー、金融取引、TCPアプリケーション、固定IPで接続したい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8595360" cy="960120"/>
          </a:xfrm>
          <a:prstGeom prst="rect">
            <a:avLst/>
          </a:prstGeom>
          <a:solidFill>
            <a:srgbClr val="FDF2F8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17520"/>
            <a:ext cx="2103120" cy="96012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17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Gateway Load Balancer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68880" y="305409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セキュリティアプライアンスを挟むためのロードバランサー。ファイアウォール・IDS/IPS・パケット検査装置を複数台並べて通信を流したいとき。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8880" y="35387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E185D"/>
                </a:solidFill>
              </a:rPr>
              <a:t>KW: 「ファイアウォール」「IDS/IPS」「セキュリティアプライアンス」「トラフィック検査」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8595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69080"/>
            <a:ext cx="2103120" cy="9601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690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Classic Load Balancer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468880" y="410565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古い世代のロードバランサー。SAAでは新規設計なら基本的にALBかNLBを選ぶ。Classic Load Balancerはレガシー用途と考える。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459028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64748B"/>
                </a:solidFill>
              </a:rPr>
              <a:t>KW: レガシー用途のみ。新規設計では選ばない。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Auto Scaling の考え方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Desired Capacity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普段この台数で動かしたい、という希望台数。例：普段は2台。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74320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Minimum Capacity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35331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最低でもこの台数は残す。例：最低2台。1台まで減ると可用性が落ちるので、2台を下限にする。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743200" cy="1554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914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Maximum Capacity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353312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最大でもこの台数まで。例：最大10台。アクセス急増時でも、無限に増やして請求が爆発しないようにする。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8595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06040"/>
            <a:ext cx="859536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060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Scaling Policy — どんな条件で増やす・減らすかのルール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035808"/>
            <a:ext cx="8366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よく出るのは、CPU使用率やALBのリクエスト数。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AWS公式：ターゲット追跡スケーリングポリシーは、指定したメトリクスの目標値に基づいてAuto Scaling Groupのキャパシティを自動調整する。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8366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6D28D9"/>
                </a:solidFill>
              </a:rPr>
              <a:t>CPU使用率が平均70%を超えたら増やす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6D28D9"/>
                </a:solidFill>
              </a:rPr>
              <a:t>CPU使用率が低くなったら減らす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6D28D9"/>
                </a:solidFill>
              </a:rPr>
              <a:t>ALB RequestCountPerTarget を一定に保つ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 問題文にどんな言葉があれば選ぶか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ELBを選ぶキーワード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16052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533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負荷分散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135331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そのままELB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37360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37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複数のEC2にトラフィックを分散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6052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21408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1214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正常なインスタンスだけにルーティング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212140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ELBのヘルスチェック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05456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50545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単一障害点をなくす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250545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ELB配下に複数台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416052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89504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8895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複数AZにトラフィックを分散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34640" y="288950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ELB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7355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73552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2735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HTTP/HTTPS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834640" y="3273552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416052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657600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6576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パスベースルーティング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34640" y="365760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41648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041648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0416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TCP/UDP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834640" y="404164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NLB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425696"/>
            <a:ext cx="416052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425696"/>
            <a:ext cx="1371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4256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</a:rPr>
              <a:t>固定IP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834640" y="442569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NLB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914400"/>
            <a:ext cx="416052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914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 Scalingを選ぶキーワード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09160" y="1353312"/>
            <a:ext cx="4160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1353312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0328" y="135331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需要に応じてEC2を増減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680960" y="13533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1737360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1737360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173736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CPU使用率に基づいてスケールアウト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80960" y="17373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2121408"/>
            <a:ext cx="4160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2121408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328" y="2121408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ピーク時に自動で増やす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80960" y="212140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09160" y="2505456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2505456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25054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夜間は減らしてコスト削減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680960" y="250545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09160" y="2889504"/>
            <a:ext cx="4160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09160" y="2889504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0328" y="28895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異常なインスタンスを置き換える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680960" y="28895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09160" y="3273552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09160" y="3273552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10328" y="327355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希望台数を維持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680960" y="32735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709160" y="3657600"/>
            <a:ext cx="4160520" cy="329184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09160" y="3657600"/>
            <a:ext cx="137160" cy="32918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10328" y="365760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ターゲット追跡スケーリング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680960" y="3657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 Scaling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4818888"/>
            <a:ext cx="8595360" cy="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似たサービスとの違い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E81"/>
                </a:solidFill>
              </a:rPr>
              <a:t>ELB vs Route 53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100584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2344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実際のリクエストを複数サーバーへ分散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「来たリクエストをどのEC2に送る？」を決める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KW：EC2への負荷分散、ヘルスチェック、複数AZ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0700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07008"/>
            <a:ext cx="1005840" cy="7132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0700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53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2344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DNSとして名前解決する（住所案内）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「example.com はどこ？」に答える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KW：DNS、ドメイン、フェイルオーバールーティング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965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E81"/>
                </a:solidFill>
              </a:rPr>
              <a:t>ELB vs Auto Scaling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58568"/>
            <a:ext cx="100584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5856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2860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振り分ける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「アクセスを複数EC2に分散」→ ELB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258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258568"/>
            <a:ext cx="1005840" cy="7132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25856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 Scaling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2860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増やす・減らす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「アクセスが増えたらEC2を追加」→ Auto Scaling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本番Webでは両方使う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E81"/>
                </a:solidFill>
              </a:rPr>
              <a:t>Auto Scaling vs Lambda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4320" y="33101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10128"/>
            <a:ext cx="1005840" cy="7132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1012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 Scaling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3375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EC2の台数を自動調整する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既存のEC2アプリをスケールさせるなら Auto Scaling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31012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310128"/>
            <a:ext cx="1005840" cy="713232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31012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Lambda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3375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サーバーなしで処理を実行し、自動的にスケールする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イベント駆動の短い処理なら Lambda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069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2E81"/>
                </a:solidFill>
              </a:rPr>
              <a:t>ALB vs NLB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4320" y="4361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61688"/>
            <a:ext cx="100584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36168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25880" y="43891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HTTP/HTTPSの中身を見て振り分ける（手紙の中身を見て部署に渡す）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KW：HTTP、HTTPS、URL、パス、ホスト、Webアプリ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43616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4361688"/>
            <a:ext cx="1005840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36168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NLB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60720" y="43891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TCP/UDPを高速にさばく（宛先番号だけ見て高速に流す）</a:t>
            </a:r>
            <a:endParaRPr lang="en-US" sz="10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KW：TCP、UDP、固定IP、低レイテンシ、高スループット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SAAでよく出る判断パターン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9326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パターン1：Webアプリを高可用性にしたい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1B4B"/>
                </a:solidFill>
              </a:rPr>
              <a:t>Q: Webアプリケーションを複数AZで高可用性にしたい。アクセス増加にも対応したい。　→　A: Application Load Balancer + Auto Scaling Group + 複数AZのEC2。ALBが複数EC2に分散／Auto Scalingが台数調整／複数AZでAZ障害に耐える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37360"/>
            <a:ext cx="43891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7556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パターン2：URLごとに違うサービスへ振り分けたい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057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1B4B"/>
                </a:solidFill>
              </a:rPr>
              <a:t>Q: /api へのリクエストはAPIサーバーへ、/images へのリクエストは画像サーバーへルーティングしたい。　→　A: Application Load Balancer。ALBはHTTP/HTTPSの中身を見て、パスベースルーティングができる。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0320"/>
            <a:ext cx="43891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5786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パターン3：TCPアプリで固定IPが必要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8803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1B4B"/>
                </a:solidFill>
              </a:rPr>
              <a:t>Q: TCPベースのアプリケーションに対して、低レイテンシで大量トラフィックを処理したい。固定IPも必要。　→　A: Network Load Balancer。NLBはTCP/UDP向けで、高性能・固定IP要件に合う。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859536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83280"/>
            <a:ext cx="438912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8328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34015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パターン4：CPUが高いときだけEC2を増やしたい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703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1B4B"/>
                </a:solidFill>
              </a:rPr>
              <a:t>Q: 平均CPU使用率が70%を超えたらインスタンスを増やし、低下したら減らしたい。　→　A: Auto Scaling Group のスケーリングポリシー。Auto Scalingは、メトリクスに基づいてEC2台数を調整する。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06240"/>
            <a:ext cx="438912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06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42245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パターン5：障害のあるEC2にリクエストを送りたくない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4526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1B4B"/>
                </a:solidFill>
              </a:rPr>
              <a:t>Q: 異常なEC2インスタンスにはトラフィックを送らないようにしたい。　→　A: ELBのヘルスチェック。ELBは登録ターゲットの状態を監視し、正常なターゲットだけにルーティングする。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5074920"/>
            <a:ext cx="8595360" cy="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⚠️ 試験での危険な選択肢 — これを選んだら負け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692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1台のEC2を大きくするだけ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353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</a:rPr>
              <a:t>→ 高可用性には弱い。1台が落ちたら終わり。SAAでは基本は水平スケーリング。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7922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Auto Scalingだけで負荷分散できると思う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176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</a:rPr>
              <a:t>→ Auto Scalingは台数調整。リクエスト分散はELB。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7860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7860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1518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ELBだけで台数が増えると思う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29992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</a:rPr>
              <a:t>→ ELBは振り分けるだけ。EC2を増減するのはAuto Scaling。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0156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0156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381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HTTPのパスルーティングにNLBを選ぶ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</a:rPr>
              <a:t>→ 違う。パスやホスト名で分けるならALB。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224528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24528"/>
            <a:ext cx="548640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245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2611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TCP・固定IP要件にALBを選ぶ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46451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803D"/>
                </a:solidFill>
              </a:rPr>
              <a:t>→ 違う。TCP/UDPや固定IPならNLBを疑う。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最後に — この形で言えるようにする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64592" cy="65836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ELB は、1台のサーバーにアクセスが集中したり、障害サーバーに通信が行ったりする問題を解決するために存在する。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164592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7335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EF08A"/>
                </a:solidFill>
              </a:rPr>
              <a:t>試験では「負荷分散」「複数EC2に分散」「正常なターゲットだけ」「HTTP/HTTPS」「パスベースルーティング」「TCP/UDP」「固定IP」が出たときにELBを選ぶ。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8595360" cy="3657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 Scaling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06040"/>
            <a:ext cx="164592" cy="65836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Auto Scaling は、アクセス量に応じてEC2台数を自動で増減し、可用性とコストを両立するために存在する。Auto Scalingは振り分けではなく台数調整をする点でELBと異なる。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164592" cy="457200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EF08A"/>
                </a:solidFill>
              </a:rPr>
              <a:t>試験では「需要に応じて増減」「CPU使用率」「スケールアウト」「スケールイン」「希望台数を維持」「ピーク時だけ増やす」が出たときに選ぶ。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4338CA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EF08A"/>
                </a:solidFill>
              </a:rPr>
              <a:t>Webアプリの王道構成 = ALB + Auto Scaling Group + 複数AZのEC2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ELB + Auto Scaling 学習資料</dc:title>
  <dc:subject>PptxGenJS Presentation</dc:subject>
  <dc:creator>PptxGenJS</dc:creator>
  <cp:lastModifiedBy>PptxGenJS</cp:lastModifiedBy>
  <cp:revision>1</cp:revision>
  <dcterms:created xsi:type="dcterms:W3CDTF">2026-05-04T14:11:18Z</dcterms:created>
  <dcterms:modified xsi:type="dcterms:W3CDTF">2026-05-04T14:11:18Z</dcterms:modified>
</cp:coreProperties>
</file>